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Robo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A600F1-0F06-4C43-A030-F3470FC41BAB}">
  <a:tblStyle styleId="{91A600F1-0F06-4C43-A030-F3470FC41BA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Roboto-regular.fntdata"/><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oboto-italic.fntdata"/><Relationship Id="rId14" Type="http://schemas.openxmlformats.org/officeDocument/2006/relationships/font" Target="fonts/Roboto-bold.fntdata"/><Relationship Id="rId16"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68d203ef54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68d203ef54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4fa3cd2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4fa3cd2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4fa3cd2c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4fa3cd2c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4fa3cd2c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4fa3cd2c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project is stored on a Google drive, allowing any viewers or collaborators to download. However, only the team members are allowed to edit. The logical collection for this project will consist of the Amazon daily stock trading dataset, organized as a single dataset with a consistent CSV structure (AMZN.csv). Overall, this structure of organization is accessible and convenient for the team members and is self-documenting and intuitive for viewers or collaborators.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4fa3cd2c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4fa3cd2c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metadata for the dataset can be accessed through a yaml file stored in the Google drive. This includes authors, dataset structure, Amazon metadata, provenance, and any metadata derived from the origin. This format is self documenting, human readable, as well as machine readable. And any additional metadata will be included and any steps taken in the data processing will be stored in the provenance section.</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84fa3cd2c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84fa3cd2c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Here are some key considerations. For “Data Ownership”, we credit the original author of the dataset in the metadata file. For </a:t>
            </a:r>
            <a:r>
              <a:rPr lang="en">
                <a:solidFill>
                  <a:schemeClr val="dk1"/>
                </a:solidFill>
              </a:rPr>
              <a:t>“Data Distribution and Publication”, </a:t>
            </a:r>
            <a:r>
              <a:rPr lang="en">
                <a:solidFill>
                  <a:schemeClr val="dk1"/>
                </a:solidFill>
              </a:rPr>
              <a:t>“Security Support” and “Persistence”, we set up our google drive folder where this collection is publicly viewable but restricts editing access to prevent unauthorized data modification or tampering. We store copies of the original dataset in the Google Drive, ensuring that the data has backups available if anything happen to the datasets on our local hard drives. For “</a:t>
            </a:r>
            <a:r>
              <a:rPr lang="en">
                <a:solidFill>
                  <a:schemeClr val="dk1"/>
                </a:solidFill>
              </a:rPr>
              <a:t>Interoperability</a:t>
            </a:r>
            <a:r>
              <a:rPr lang="en">
                <a:solidFill>
                  <a:schemeClr val="dk1"/>
                </a:solidFill>
              </a:rPr>
              <a:t> Support”, we keep the data in its original CSV file format, which is supported on many platforms. And therefore, keeping the overall collection simple and intuitive for any users and viewers.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Amazon Stock Dataset Collection</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Timothy Grashaw, Alex Litchfield, and Ruikang Lin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Question/Goal</a:t>
            </a:r>
            <a:endParaRPr/>
          </a:p>
        </p:txBody>
      </p:sp>
      <p:sp>
        <p:nvSpPr>
          <p:cNvPr id="74" name="Google Shape;74;p14"/>
          <p:cNvSpPr txBox="1"/>
          <p:nvPr>
            <p:ph idx="1" type="body"/>
          </p:nvPr>
        </p:nvSpPr>
        <p:spPr>
          <a:xfrm>
            <a:off x="471900" y="1919075"/>
            <a:ext cx="38826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Goal/Driver:</a:t>
            </a:r>
            <a:endParaRPr b="1"/>
          </a:p>
          <a:p>
            <a:pPr indent="0" lvl="0" marL="0" rtl="0" algn="l">
              <a:spcBef>
                <a:spcPts val="1200"/>
              </a:spcBef>
              <a:spcAft>
                <a:spcPts val="1200"/>
              </a:spcAft>
              <a:buNone/>
            </a:pPr>
            <a:r>
              <a:rPr lang="en"/>
              <a:t>To identify stock price fluctuations or large shifts in </a:t>
            </a:r>
            <a:r>
              <a:rPr lang="en"/>
              <a:t>trading</a:t>
            </a:r>
            <a:r>
              <a:rPr lang="en"/>
              <a:t> volumes and determine if they correlate to </a:t>
            </a:r>
            <a:r>
              <a:rPr lang="en"/>
              <a:t>specific</a:t>
            </a:r>
            <a:r>
              <a:rPr lang="en"/>
              <a:t> company or market events</a:t>
            </a:r>
            <a:endParaRPr/>
          </a:p>
        </p:txBody>
      </p:sp>
      <p:sp>
        <p:nvSpPr>
          <p:cNvPr id="75" name="Google Shape;75;p14"/>
          <p:cNvSpPr txBox="1"/>
          <p:nvPr>
            <p:ph idx="1" type="body"/>
          </p:nvPr>
        </p:nvSpPr>
        <p:spPr>
          <a:xfrm>
            <a:off x="4811400" y="1919075"/>
            <a:ext cx="38826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Mode of Collection:</a:t>
            </a:r>
            <a:endParaRPr b="1"/>
          </a:p>
          <a:p>
            <a:pPr indent="0" lvl="0" marL="0" rtl="0" algn="l">
              <a:spcBef>
                <a:spcPts val="1200"/>
              </a:spcBef>
              <a:spcAft>
                <a:spcPts val="1200"/>
              </a:spcAft>
              <a:buNone/>
            </a:pPr>
            <a:r>
              <a:rPr lang="en"/>
              <a:t>Observation - collected by Yahoo Finance through different stock exchanges on a daily basis</a:t>
            </a:r>
            <a:endParaRPr/>
          </a:p>
        </p:txBody>
      </p:sp>
      <p:pic>
        <p:nvPicPr>
          <p:cNvPr id="76" name="Google Shape;76;p14"/>
          <p:cNvPicPr preferRelativeResize="0"/>
          <p:nvPr/>
        </p:nvPicPr>
        <p:blipFill>
          <a:blip r:embed="rId3">
            <a:alphaModFix/>
          </a:blip>
          <a:stretch>
            <a:fillRect/>
          </a:stretch>
        </p:blipFill>
        <p:spPr>
          <a:xfrm>
            <a:off x="6091313" y="114475"/>
            <a:ext cx="1322775" cy="1445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5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 Acquisition</a:t>
            </a:r>
            <a:endParaRPr/>
          </a:p>
        </p:txBody>
      </p:sp>
      <p:sp>
        <p:nvSpPr>
          <p:cNvPr id="82" name="Google Shape;82;p15"/>
          <p:cNvSpPr txBox="1"/>
          <p:nvPr>
            <p:ph idx="1" type="body"/>
          </p:nvPr>
        </p:nvSpPr>
        <p:spPr>
          <a:xfrm>
            <a:off x="471900" y="1908900"/>
            <a:ext cx="8222100" cy="276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data is available on Kaggle for free. It was captured </a:t>
            </a:r>
            <a:r>
              <a:rPr lang="en"/>
              <a:t>via different measurement processes at stock exchanges.</a:t>
            </a:r>
            <a:endParaRPr/>
          </a:p>
          <a:p>
            <a:pPr indent="0" lvl="0" marL="0" rtl="0" algn="l">
              <a:spcBef>
                <a:spcPts val="1200"/>
              </a:spcBef>
              <a:spcAft>
                <a:spcPts val="0"/>
              </a:spcAft>
              <a:buNone/>
            </a:pPr>
            <a:r>
              <a:rPr lang="en"/>
              <a:t>The data is compiled into the following fields: </a:t>
            </a:r>
            <a:endParaRPr/>
          </a:p>
          <a:p>
            <a:pPr indent="-298450" lvl="0" marL="457200" rtl="0" algn="l">
              <a:spcBef>
                <a:spcPts val="1200"/>
              </a:spcBef>
              <a:spcAft>
                <a:spcPts val="0"/>
              </a:spcAft>
              <a:buSzPts val="1100"/>
              <a:buChar char="●"/>
            </a:pPr>
            <a:r>
              <a:rPr lang="en" sz="1100"/>
              <a:t>date (specific trade date)</a:t>
            </a:r>
            <a:endParaRPr sz="1100"/>
          </a:p>
          <a:p>
            <a:pPr indent="-298450" lvl="0" marL="457200" rtl="0" algn="l">
              <a:spcBef>
                <a:spcPts val="0"/>
              </a:spcBef>
              <a:spcAft>
                <a:spcPts val="0"/>
              </a:spcAft>
              <a:buSzPts val="1100"/>
              <a:buChar char="●"/>
            </a:pPr>
            <a:r>
              <a:rPr lang="en" sz="1100"/>
              <a:t>open (opening price) </a:t>
            </a:r>
            <a:endParaRPr sz="1100"/>
          </a:p>
          <a:p>
            <a:pPr indent="-298450" lvl="0" marL="457200" rtl="0" algn="l">
              <a:spcBef>
                <a:spcPts val="0"/>
              </a:spcBef>
              <a:spcAft>
                <a:spcPts val="0"/>
              </a:spcAft>
              <a:buSzPts val="1100"/>
              <a:buChar char="●"/>
            </a:pPr>
            <a:r>
              <a:rPr lang="en" sz="1100"/>
              <a:t>high (maximum price during the day)</a:t>
            </a:r>
            <a:endParaRPr sz="1100"/>
          </a:p>
          <a:p>
            <a:pPr indent="-298450" lvl="0" marL="457200" rtl="0" algn="l">
              <a:spcBef>
                <a:spcPts val="0"/>
              </a:spcBef>
              <a:spcAft>
                <a:spcPts val="0"/>
              </a:spcAft>
              <a:buSzPts val="1100"/>
              <a:buChar char="●"/>
            </a:pPr>
            <a:r>
              <a:rPr lang="en" sz="1100"/>
              <a:t>low (minimum price during the day)</a:t>
            </a:r>
            <a:endParaRPr sz="1100"/>
          </a:p>
          <a:p>
            <a:pPr indent="-298450" lvl="0" marL="457200" rtl="0" algn="l">
              <a:spcBef>
                <a:spcPts val="0"/>
              </a:spcBef>
              <a:spcAft>
                <a:spcPts val="0"/>
              </a:spcAft>
              <a:buSzPts val="1100"/>
              <a:buChar char="●"/>
            </a:pPr>
            <a:r>
              <a:rPr lang="en" sz="1100"/>
              <a:t>close (close price adjusted for splits)</a:t>
            </a:r>
            <a:endParaRPr sz="1100"/>
          </a:p>
          <a:p>
            <a:pPr indent="-298450" lvl="0" marL="457200" rtl="0" algn="l">
              <a:spcBef>
                <a:spcPts val="0"/>
              </a:spcBef>
              <a:spcAft>
                <a:spcPts val="0"/>
              </a:spcAft>
              <a:buSzPts val="1100"/>
              <a:buChar char="●"/>
            </a:pPr>
            <a:r>
              <a:rPr lang="en" sz="1100"/>
              <a:t>adj close (adjusted close price adjusted for both dividends and splits)</a:t>
            </a:r>
            <a:endParaRPr sz="1100"/>
          </a:p>
          <a:p>
            <a:pPr indent="-298450" lvl="0" marL="457200" rtl="0" algn="l">
              <a:spcBef>
                <a:spcPts val="0"/>
              </a:spcBef>
              <a:spcAft>
                <a:spcPts val="0"/>
              </a:spcAft>
              <a:buSzPts val="1100"/>
              <a:buChar char="●"/>
            </a:pPr>
            <a:r>
              <a:rPr lang="en" sz="1100"/>
              <a:t>volume (the number of shares that changed hands during a given day)</a:t>
            </a:r>
            <a:endParaRPr/>
          </a:p>
        </p:txBody>
      </p:sp>
      <p:pic>
        <p:nvPicPr>
          <p:cNvPr descr="Fishing net (Provided by Getty Images)" id="83" name="Google Shape;83;p15"/>
          <p:cNvPicPr preferRelativeResize="0"/>
          <p:nvPr/>
        </p:nvPicPr>
        <p:blipFill>
          <a:blip r:embed="rId3">
            <a:alphaModFix/>
          </a:blip>
          <a:stretch>
            <a:fillRect/>
          </a:stretch>
        </p:blipFill>
        <p:spPr>
          <a:xfrm>
            <a:off x="6118800" y="288725"/>
            <a:ext cx="1530399" cy="1170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Organization</a:t>
            </a:r>
            <a:endParaRPr/>
          </a:p>
        </p:txBody>
      </p:sp>
      <p:sp>
        <p:nvSpPr>
          <p:cNvPr id="89" name="Google Shape;89;p16"/>
          <p:cNvSpPr txBox="1"/>
          <p:nvPr>
            <p:ph idx="1" type="body"/>
          </p:nvPr>
        </p:nvSpPr>
        <p:spPr>
          <a:xfrm>
            <a:off x="234150" y="1871900"/>
            <a:ext cx="3312900" cy="2943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Stored on Google drive</a:t>
            </a:r>
            <a:endParaRPr/>
          </a:p>
          <a:p>
            <a:pPr indent="-342900" lvl="0" marL="457200" rtl="0" algn="l">
              <a:spcBef>
                <a:spcPts val="0"/>
              </a:spcBef>
              <a:spcAft>
                <a:spcPts val="0"/>
              </a:spcAft>
              <a:buSzPts val="1800"/>
              <a:buChar char="●"/>
            </a:pPr>
            <a:r>
              <a:rPr lang="en"/>
              <a:t>Limited edit access</a:t>
            </a:r>
            <a:endParaRPr/>
          </a:p>
          <a:p>
            <a:pPr indent="-342900" lvl="0" marL="457200" rtl="0" algn="l">
              <a:spcBef>
                <a:spcPts val="0"/>
              </a:spcBef>
              <a:spcAft>
                <a:spcPts val="0"/>
              </a:spcAft>
              <a:buSzPts val="1800"/>
              <a:buChar char="●"/>
            </a:pPr>
            <a:r>
              <a:rPr lang="en"/>
              <a:t>CSV format</a:t>
            </a:r>
            <a:endParaRPr/>
          </a:p>
        </p:txBody>
      </p:sp>
      <p:graphicFrame>
        <p:nvGraphicFramePr>
          <p:cNvPr id="90" name="Google Shape;90;p16"/>
          <p:cNvGraphicFramePr/>
          <p:nvPr/>
        </p:nvGraphicFramePr>
        <p:xfrm>
          <a:off x="3335188" y="2285450"/>
          <a:ext cx="3000000" cy="3000000"/>
        </p:xfrm>
        <a:graphic>
          <a:graphicData uri="http://schemas.openxmlformats.org/drawingml/2006/table">
            <a:tbl>
              <a:tblPr>
                <a:noFill/>
                <a:tableStyleId>{91A600F1-0F06-4C43-A030-F3470FC41BAB}</a:tableStyleId>
              </a:tblPr>
              <a:tblGrid>
                <a:gridCol w="785125"/>
                <a:gridCol w="785125"/>
                <a:gridCol w="785125"/>
                <a:gridCol w="785125"/>
                <a:gridCol w="785125"/>
                <a:gridCol w="785125"/>
                <a:gridCol w="785125"/>
              </a:tblGrid>
              <a:tr h="259625">
                <a:tc>
                  <a:txBody>
                    <a:bodyPr/>
                    <a:lstStyle/>
                    <a:p>
                      <a:pPr indent="0" lvl="0" marL="0" rtl="0" algn="l">
                        <a:lnSpc>
                          <a:spcPct val="115000"/>
                        </a:lnSpc>
                        <a:spcBef>
                          <a:spcPts val="0"/>
                        </a:spcBef>
                        <a:spcAft>
                          <a:spcPts val="0"/>
                        </a:spcAft>
                        <a:buNone/>
                      </a:pPr>
                      <a:r>
                        <a:rPr lang="en" sz="1100">
                          <a:solidFill>
                            <a:schemeClr val="lt1"/>
                          </a:solidFill>
                        </a:rPr>
                        <a:t>Date</a:t>
                      </a:r>
                      <a:endParaRPr sz="1100">
                        <a:solidFill>
                          <a:schemeClr val="lt1"/>
                        </a:solidFill>
                      </a:endParaRPr>
                    </a:p>
                  </a:txBody>
                  <a:tcPr marT="19050" marB="19050" marR="28575" marL="28575" anchor="b">
                    <a:lnL cap="flat" cmpd="sng" w="6350">
                      <a:solidFill>
                        <a:schemeClr val="lt1">
                          <a:alpha val="0"/>
                        </a:schemeClr>
                      </a:solidFill>
                      <a:prstDash val="solid"/>
                      <a:round/>
                      <a:headEnd len="sm" w="sm" type="none"/>
                      <a:tailEnd len="sm" w="sm" type="none"/>
                    </a:lnL>
                    <a:lnR cap="flat" cmpd="sng" w="6350">
                      <a:solidFill>
                        <a:schemeClr val="lt1">
                          <a:alpha val="0"/>
                        </a:schemeClr>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chemeClr val="lt1">
                          <a:alpha val="0"/>
                        </a:schemeClr>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100">
                          <a:solidFill>
                            <a:schemeClr val="lt1"/>
                          </a:solidFill>
                        </a:rPr>
                        <a:t>Open</a:t>
                      </a:r>
                      <a:endParaRPr sz="1100">
                        <a:solidFill>
                          <a:schemeClr val="lt1"/>
                        </a:solidFill>
                      </a:endParaRPr>
                    </a:p>
                  </a:txBody>
                  <a:tcPr marT="19050" marB="19050" marR="28575" marL="28575" anchor="b">
                    <a:lnL cap="flat" cmpd="sng" w="6350">
                      <a:solidFill>
                        <a:schemeClr val="lt1">
                          <a:alpha val="0"/>
                        </a:schemeClr>
                      </a:solidFill>
                      <a:prstDash val="solid"/>
                      <a:round/>
                      <a:headEnd len="sm" w="sm" type="none"/>
                      <a:tailEnd len="sm" w="sm" type="none"/>
                    </a:lnL>
                    <a:lnR cap="flat" cmpd="sng" w="6350">
                      <a:solidFill>
                        <a:schemeClr val="lt1">
                          <a:alpha val="0"/>
                        </a:schemeClr>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chemeClr val="lt1">
                          <a:alpha val="0"/>
                        </a:schemeClr>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100">
                          <a:solidFill>
                            <a:schemeClr val="lt1"/>
                          </a:solidFill>
                        </a:rPr>
                        <a:t>High</a:t>
                      </a:r>
                      <a:endParaRPr sz="1100">
                        <a:solidFill>
                          <a:schemeClr val="lt1"/>
                        </a:solidFill>
                      </a:endParaRPr>
                    </a:p>
                  </a:txBody>
                  <a:tcPr marT="19050" marB="19050" marR="28575" marL="28575" anchor="b">
                    <a:lnL cap="flat" cmpd="sng" w="6350">
                      <a:solidFill>
                        <a:schemeClr val="lt1">
                          <a:alpha val="0"/>
                        </a:schemeClr>
                      </a:solidFill>
                      <a:prstDash val="solid"/>
                      <a:round/>
                      <a:headEnd len="sm" w="sm" type="none"/>
                      <a:tailEnd len="sm" w="sm" type="none"/>
                    </a:lnL>
                    <a:lnR cap="flat" cmpd="sng" w="6350">
                      <a:solidFill>
                        <a:schemeClr val="lt1">
                          <a:alpha val="0"/>
                        </a:schemeClr>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chemeClr val="lt1">
                          <a:alpha val="0"/>
                        </a:schemeClr>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100">
                          <a:solidFill>
                            <a:schemeClr val="lt1"/>
                          </a:solidFill>
                        </a:rPr>
                        <a:t>Low</a:t>
                      </a:r>
                      <a:endParaRPr sz="1100">
                        <a:solidFill>
                          <a:schemeClr val="lt1"/>
                        </a:solidFill>
                      </a:endParaRPr>
                    </a:p>
                  </a:txBody>
                  <a:tcPr marT="19050" marB="19050" marR="28575" marL="28575" anchor="b">
                    <a:lnL cap="flat" cmpd="sng" w="6350">
                      <a:solidFill>
                        <a:schemeClr val="lt1">
                          <a:alpha val="0"/>
                        </a:schemeClr>
                      </a:solidFill>
                      <a:prstDash val="solid"/>
                      <a:round/>
                      <a:headEnd len="sm" w="sm" type="none"/>
                      <a:tailEnd len="sm" w="sm" type="none"/>
                    </a:lnL>
                    <a:lnR cap="flat" cmpd="sng" w="6350">
                      <a:solidFill>
                        <a:schemeClr val="lt1">
                          <a:alpha val="0"/>
                        </a:schemeClr>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chemeClr val="lt1">
                          <a:alpha val="0"/>
                        </a:schemeClr>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100">
                          <a:solidFill>
                            <a:schemeClr val="lt1"/>
                          </a:solidFill>
                        </a:rPr>
                        <a:t>Close</a:t>
                      </a:r>
                      <a:endParaRPr sz="1100">
                        <a:solidFill>
                          <a:schemeClr val="lt1"/>
                        </a:solidFill>
                      </a:endParaRPr>
                    </a:p>
                  </a:txBody>
                  <a:tcPr marT="19050" marB="19050" marR="28575" marL="28575" anchor="b">
                    <a:lnL cap="flat" cmpd="sng" w="6350">
                      <a:solidFill>
                        <a:schemeClr val="lt1">
                          <a:alpha val="0"/>
                        </a:schemeClr>
                      </a:solidFill>
                      <a:prstDash val="solid"/>
                      <a:round/>
                      <a:headEnd len="sm" w="sm" type="none"/>
                      <a:tailEnd len="sm" w="sm" type="none"/>
                    </a:lnL>
                    <a:lnR cap="flat" cmpd="sng" w="6350">
                      <a:solidFill>
                        <a:schemeClr val="lt1">
                          <a:alpha val="0"/>
                        </a:schemeClr>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chemeClr val="lt1">
                          <a:alpha val="0"/>
                        </a:schemeClr>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100">
                          <a:solidFill>
                            <a:schemeClr val="lt1"/>
                          </a:solidFill>
                        </a:rPr>
                        <a:t>Adj Close</a:t>
                      </a:r>
                      <a:endParaRPr sz="1100">
                        <a:solidFill>
                          <a:schemeClr val="lt1"/>
                        </a:solidFill>
                      </a:endParaRPr>
                    </a:p>
                  </a:txBody>
                  <a:tcPr marT="19050" marB="19050" marR="28575" marL="28575" anchor="b">
                    <a:lnL cap="flat" cmpd="sng" w="6350">
                      <a:solidFill>
                        <a:schemeClr val="lt1">
                          <a:alpha val="0"/>
                        </a:schemeClr>
                      </a:solidFill>
                      <a:prstDash val="solid"/>
                      <a:round/>
                      <a:headEnd len="sm" w="sm" type="none"/>
                      <a:tailEnd len="sm" w="sm" type="none"/>
                    </a:lnL>
                    <a:lnR cap="flat" cmpd="sng" w="6350">
                      <a:solidFill>
                        <a:schemeClr val="lt1">
                          <a:alpha val="0"/>
                        </a:schemeClr>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chemeClr val="lt1">
                          <a:alpha val="0"/>
                        </a:schemeClr>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100">
                          <a:solidFill>
                            <a:schemeClr val="lt1"/>
                          </a:solidFill>
                        </a:rPr>
                        <a:t>Volume</a:t>
                      </a:r>
                      <a:endParaRPr sz="1100">
                        <a:solidFill>
                          <a:schemeClr val="lt1"/>
                        </a:solidFill>
                      </a:endParaRPr>
                    </a:p>
                  </a:txBody>
                  <a:tcPr marT="19050" marB="19050" marR="28575" marL="28575" anchor="b">
                    <a:lnL cap="flat" cmpd="sng" w="6350">
                      <a:solidFill>
                        <a:schemeClr val="lt1">
                          <a:alpha val="0"/>
                        </a:schemeClr>
                      </a:solidFill>
                      <a:prstDash val="solid"/>
                      <a:round/>
                      <a:headEnd len="sm" w="sm" type="none"/>
                      <a:tailEnd len="sm" w="sm" type="none"/>
                    </a:lnL>
                    <a:lnR cap="flat" cmpd="sng" w="6350">
                      <a:solidFill>
                        <a:schemeClr val="lt1">
                          <a:alpha val="0"/>
                        </a:schemeClr>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chemeClr val="lt1">
                          <a:alpha val="0"/>
                        </a:schemeClr>
                      </a:solidFill>
                      <a:prstDash val="solid"/>
                      <a:round/>
                      <a:headEnd len="sm" w="sm" type="none"/>
                      <a:tailEnd len="sm" w="sm" type="none"/>
                    </a:lnB>
                    <a:solidFill>
                      <a:schemeClr val="dk1"/>
                    </a:solidFill>
                  </a:tcPr>
                </a:tc>
              </a:tr>
              <a:tr h="261800">
                <a:tc>
                  <a:txBody>
                    <a:bodyPr/>
                    <a:lstStyle/>
                    <a:p>
                      <a:pPr indent="0" lvl="0" marL="0" rtl="0" algn="r">
                        <a:lnSpc>
                          <a:spcPct val="115000"/>
                        </a:lnSpc>
                        <a:spcBef>
                          <a:spcPts val="0"/>
                        </a:spcBef>
                        <a:spcAft>
                          <a:spcPts val="0"/>
                        </a:spcAft>
                        <a:buNone/>
                      </a:pPr>
                      <a:r>
                        <a:rPr lang="en" sz="900"/>
                        <a:t>1997-05-15</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2.4375</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2.5</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1.927083373</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1.958333373</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1.958333373</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72156000</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chemeClr val="lt1">
                          <a:alpha val="0"/>
                        </a:schemeClr>
                      </a:solidFill>
                      <a:prstDash val="solid"/>
                      <a:round/>
                      <a:headEnd len="sm" w="sm" type="none"/>
                      <a:tailEnd len="sm" w="sm" type="none"/>
                    </a:lnT>
                    <a:lnB cap="flat" cmpd="sng" w="6350">
                      <a:solidFill>
                        <a:srgbClr val="000000"/>
                      </a:solidFill>
                      <a:prstDash val="solid"/>
                      <a:round/>
                      <a:headEnd len="sm" w="sm" type="none"/>
                      <a:tailEnd len="sm" w="sm" type="none"/>
                    </a:lnB>
                  </a:tcPr>
                </a:tc>
              </a:tr>
              <a:tr h="238575">
                <a:tc>
                  <a:txBody>
                    <a:bodyPr/>
                    <a:lstStyle/>
                    <a:p>
                      <a:pPr indent="0" lvl="0" marL="0" rtl="0" algn="r">
                        <a:lnSpc>
                          <a:spcPct val="115000"/>
                        </a:lnSpc>
                        <a:spcBef>
                          <a:spcPts val="0"/>
                        </a:spcBef>
                        <a:spcAft>
                          <a:spcPts val="0"/>
                        </a:spcAft>
                        <a:buNone/>
                      </a:pPr>
                      <a:r>
                        <a:rPr lang="en" sz="900"/>
                        <a:t>1997-05-16</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1.96875</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1.979166627</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1.708333373</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1.729166627</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1.729166627</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14700000</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r>
              <a:tr h="238575">
                <a:tc>
                  <a:txBody>
                    <a:bodyPr/>
                    <a:lstStyle/>
                    <a:p>
                      <a:pPr indent="0" lvl="0" marL="0" rtl="0" algn="r">
                        <a:lnSpc>
                          <a:spcPct val="115000"/>
                        </a:lnSpc>
                        <a:spcBef>
                          <a:spcPts val="0"/>
                        </a:spcBef>
                        <a:spcAft>
                          <a:spcPts val="0"/>
                        </a:spcAft>
                        <a:buNone/>
                      </a:pPr>
                      <a:r>
                        <a:rPr lang="en" sz="900"/>
                        <a:t>1997-05-19</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1.760416627</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1.770833373</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1.625</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1.708333373</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1.708333373</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6106800</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6225">
                <a:tc gridSpan="7">
                  <a:txBody>
                    <a:bodyPr/>
                    <a:lstStyle/>
                    <a:p>
                      <a:pPr indent="0" lvl="0" marL="0" rtl="0" algn="l">
                        <a:lnSpc>
                          <a:spcPct val="115000"/>
                        </a:lnSpc>
                        <a:spcBef>
                          <a:spcPts val="0"/>
                        </a:spcBef>
                        <a:spcAft>
                          <a:spcPts val="0"/>
                        </a:spcAft>
                        <a:buNone/>
                      </a:pPr>
                      <a:r>
                        <a:rPr lang="en" sz="900"/>
                        <a:t>...</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hMerge="1"/>
                <a:tc hMerge="1"/>
                <a:tc hMerge="1"/>
                <a:tc hMerge="1"/>
                <a:tc hMerge="1"/>
                <a:tc hMerge="1"/>
              </a:tr>
              <a:tr h="238575">
                <a:tc>
                  <a:txBody>
                    <a:bodyPr/>
                    <a:lstStyle/>
                    <a:p>
                      <a:pPr indent="0" lvl="0" marL="0" rtl="0" algn="r">
                        <a:lnSpc>
                          <a:spcPct val="115000"/>
                        </a:lnSpc>
                        <a:spcBef>
                          <a:spcPts val="0"/>
                        </a:spcBef>
                        <a:spcAft>
                          <a:spcPts val="0"/>
                        </a:spcAft>
                        <a:buNone/>
                      </a:pPr>
                      <a:r>
                        <a:rPr lang="en" sz="900"/>
                        <a:t>2020-03-30</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1922.829956</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1973.630005</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1912.339966</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1963.949951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1963.949951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6126100</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38575">
                <a:tc>
                  <a:txBody>
                    <a:bodyPr/>
                    <a:lstStyle/>
                    <a:p>
                      <a:pPr indent="0" lvl="0" marL="0" rtl="0" algn="r">
                        <a:lnSpc>
                          <a:spcPct val="115000"/>
                        </a:lnSpc>
                        <a:spcBef>
                          <a:spcPts val="0"/>
                        </a:spcBef>
                        <a:spcAft>
                          <a:spcPts val="0"/>
                        </a:spcAft>
                        <a:buNone/>
                      </a:pPr>
                      <a:r>
                        <a:rPr lang="en" sz="900"/>
                        <a:t>2020-03-31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1964.349976</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1993.02002</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1944.01001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1949.719971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1949.719971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c>
                  <a:txBody>
                    <a:bodyPr/>
                    <a:lstStyle/>
                    <a:p>
                      <a:pPr indent="0" lvl="0" marL="0" rtl="0" algn="r">
                        <a:lnSpc>
                          <a:spcPct val="115000"/>
                        </a:lnSpc>
                        <a:spcBef>
                          <a:spcPts val="0"/>
                        </a:spcBef>
                        <a:spcAft>
                          <a:spcPts val="0"/>
                        </a:spcAft>
                        <a:buNone/>
                      </a:pPr>
                      <a:r>
                        <a:rPr lang="en" sz="900"/>
                        <a:t>5123600</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EFEFEF"/>
                    </a:solidFill>
                  </a:tcPr>
                </a:tc>
              </a:tr>
              <a:tr h="238575">
                <a:tc>
                  <a:txBody>
                    <a:bodyPr/>
                    <a:lstStyle/>
                    <a:p>
                      <a:pPr indent="0" lvl="0" marL="0" rtl="0" algn="r">
                        <a:lnSpc>
                          <a:spcPct val="115000"/>
                        </a:lnSpc>
                        <a:spcBef>
                          <a:spcPts val="0"/>
                        </a:spcBef>
                        <a:spcAft>
                          <a:spcPts val="0"/>
                        </a:spcAft>
                        <a:buNone/>
                      </a:pPr>
                      <a:r>
                        <a:rPr lang="en" sz="900"/>
                        <a:t>2020-04-01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1932.969971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1944.959961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1893</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1907.699951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1907.699951</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4111100</a:t>
                      </a:r>
                      <a:endParaRPr sz="9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pic>
        <p:nvPicPr>
          <p:cNvPr id="91" name="Google Shape;91;p16"/>
          <p:cNvPicPr preferRelativeResize="0"/>
          <p:nvPr/>
        </p:nvPicPr>
        <p:blipFill rotWithShape="1">
          <a:blip r:embed="rId3">
            <a:alphaModFix/>
          </a:blip>
          <a:srcRect b="2515" l="0" r="0" t="0"/>
          <a:stretch/>
        </p:blipFill>
        <p:spPr>
          <a:xfrm>
            <a:off x="641075" y="3091700"/>
            <a:ext cx="2315699" cy="17748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Metadata</a:t>
            </a:r>
            <a:endParaRPr/>
          </a:p>
        </p:txBody>
      </p:sp>
      <p:sp>
        <p:nvSpPr>
          <p:cNvPr id="97" name="Google Shape;97;p17"/>
          <p:cNvSpPr txBox="1"/>
          <p:nvPr>
            <p:ph idx="1" type="body"/>
          </p:nvPr>
        </p:nvSpPr>
        <p:spPr>
          <a:xfrm>
            <a:off x="406750" y="1935350"/>
            <a:ext cx="3749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YAML format</a:t>
            </a:r>
            <a:endParaRPr/>
          </a:p>
          <a:p>
            <a:pPr indent="-342900" lvl="0" marL="457200" rtl="0" algn="l">
              <a:spcBef>
                <a:spcPts val="0"/>
              </a:spcBef>
              <a:spcAft>
                <a:spcPts val="0"/>
              </a:spcAft>
              <a:buSzPts val="1800"/>
              <a:buChar char="●"/>
            </a:pPr>
            <a:r>
              <a:rPr lang="en"/>
              <a:t>Self-documenting</a:t>
            </a:r>
            <a:endParaRPr/>
          </a:p>
          <a:p>
            <a:pPr indent="-342900" lvl="0" marL="457200" rtl="0" algn="l">
              <a:spcBef>
                <a:spcPts val="0"/>
              </a:spcBef>
              <a:spcAft>
                <a:spcPts val="0"/>
              </a:spcAft>
              <a:buSzPts val="1800"/>
              <a:buChar char="●"/>
            </a:pPr>
            <a:r>
              <a:rPr lang="en"/>
              <a:t>Interoperability</a:t>
            </a:r>
            <a:endParaRPr/>
          </a:p>
          <a:p>
            <a:pPr indent="-342900" lvl="0" marL="457200" rtl="0" algn="l">
              <a:spcBef>
                <a:spcPts val="0"/>
              </a:spcBef>
              <a:spcAft>
                <a:spcPts val="0"/>
              </a:spcAft>
              <a:buSzPts val="1800"/>
              <a:buChar char="●"/>
            </a:pPr>
            <a:r>
              <a:rPr lang="en"/>
              <a:t>Provenance will include any data processing</a:t>
            </a:r>
            <a:endParaRPr/>
          </a:p>
          <a:p>
            <a:pPr indent="0" lvl="0" marL="0" rtl="0" algn="l">
              <a:spcBef>
                <a:spcPts val="1200"/>
              </a:spcBef>
              <a:spcAft>
                <a:spcPts val="1200"/>
              </a:spcAft>
              <a:buNone/>
            </a:pPr>
            <a:r>
              <a:t/>
            </a:r>
            <a:endParaRPr/>
          </a:p>
        </p:txBody>
      </p:sp>
      <p:pic>
        <p:nvPicPr>
          <p:cNvPr id="98" name="Google Shape;98;p17"/>
          <p:cNvPicPr preferRelativeResize="0"/>
          <p:nvPr/>
        </p:nvPicPr>
        <p:blipFill>
          <a:blip r:embed="rId3">
            <a:alphaModFix/>
          </a:blip>
          <a:stretch>
            <a:fillRect/>
          </a:stretch>
        </p:blipFill>
        <p:spPr>
          <a:xfrm>
            <a:off x="4490575" y="876700"/>
            <a:ext cx="4236476" cy="3695576"/>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1000"/>
                                        <p:tgtEl>
                                          <p:spTgt spid="9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Considerations</a:t>
            </a:r>
            <a:endParaRPr/>
          </a:p>
        </p:txBody>
      </p:sp>
      <p:sp>
        <p:nvSpPr>
          <p:cNvPr id="104" name="Google Shape;104;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 Ownership</a:t>
            </a:r>
            <a:endParaRPr/>
          </a:p>
          <a:p>
            <a:pPr indent="-342900" lvl="0" marL="457200" rtl="0" algn="l">
              <a:spcBef>
                <a:spcPts val="0"/>
              </a:spcBef>
              <a:spcAft>
                <a:spcPts val="0"/>
              </a:spcAft>
              <a:buSzPts val="1800"/>
              <a:buChar char="-"/>
            </a:pPr>
            <a:r>
              <a:rPr lang="en"/>
              <a:t>Data Distribution and Publication</a:t>
            </a:r>
            <a:endParaRPr/>
          </a:p>
          <a:p>
            <a:pPr indent="-342900" lvl="0" marL="457200" rtl="0" algn="l">
              <a:spcBef>
                <a:spcPts val="0"/>
              </a:spcBef>
              <a:spcAft>
                <a:spcPts val="0"/>
              </a:spcAft>
              <a:buSzPts val="1800"/>
              <a:buChar char="-"/>
            </a:pPr>
            <a:r>
              <a:rPr lang="en"/>
              <a:t>Security Support</a:t>
            </a:r>
            <a:endParaRPr/>
          </a:p>
          <a:p>
            <a:pPr indent="-342900" lvl="0" marL="457200" rtl="0" algn="l">
              <a:spcBef>
                <a:spcPts val="0"/>
              </a:spcBef>
              <a:spcAft>
                <a:spcPts val="0"/>
              </a:spcAft>
              <a:buSzPts val="1800"/>
              <a:buChar char="-"/>
            </a:pPr>
            <a:r>
              <a:rPr lang="en"/>
              <a:t>Persistence</a:t>
            </a:r>
            <a:endParaRPr/>
          </a:p>
          <a:p>
            <a:pPr indent="-342900" lvl="0" marL="457200" rtl="0" algn="l">
              <a:spcBef>
                <a:spcPts val="0"/>
              </a:spcBef>
              <a:spcAft>
                <a:spcPts val="0"/>
              </a:spcAft>
              <a:buSzPts val="1800"/>
              <a:buChar char="-"/>
            </a:pPr>
            <a:r>
              <a:rPr lang="en"/>
              <a:t>Interoperability Support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